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trong Hội đồng chấm bài tập lớn. Hôm nay nhóm em xin trình bày đề tài: 'Khai phá kho dữ liệu lịch sử xem phim để dự đoán thị hiếu người dùng và tối ưu hóa danh mục nội dung'. Bài báo cáo gồm đầy đủ các nội dung từ xây dựng kho dữ liệu SQL Server, phân tích OLAP đến khai phá K-Means, Lọc cộng tác và Luật kết hợp.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tài giải quyết trọn vẹn 3 câu hỏi nghiệp vụ thực tế của một nền tảng SVoD: Q1 giúp thấu hiểu cấu trúc khách hàng qua nhân khẩu học; Q2 xây dựng công cụ gợi ý cá nhân hóa và luật kết hợp đạo diễn; Q3 cung cấp bức tranh tăng trưởng vĩ mô theo quý để lãnh đạo ra quyết định mua bản quyền.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tích hợp 3 nguồn dữ liệu: MovieLens 1M làm nòng cốt, IMDb làm giàu thông tin đạo diễn với tỷ lệ khớp đạt 88.23%, và Netflix titles làm thước đo đối sánh thị trường. Cột thời gian xem được mô phỏng khoa học và gắn cờ minh bạch.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 dữ liệu được tổ chức theo chuẩn Star Schema mở rộng. Bảng FactRating ở trung tâm liên kết 5 bảng chiều qua các Surrogate Key. Mối quan hệ N-N giữa Phim và Thể loại được giải quyết chuẩn mực bằng BridgeMovieGenre.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ETL được viết bằng Python kết hợp T-SQL batching. Ngay sau khi nạp, hệ thống kích hoạt bộ kiểm toán tự động và vượt qua 5/5 bài kiểm tra với độ tin cậy 100%, bảo đảm không có dữ liệu rác hay khóa mồ côi trước khi khai phá.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câu hỏi Q3: Trong các quý gần đây, thể loại Sci-Fi có tốc độ tăng trưởng mạnh nhất đạt +17.02% QoQ, theo sát là Documentary đạt +15.09%. Biểu đồ bên phải thể hiện rõ chuỗi biến động QoQ của 6 thể loại chính qua các năm.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đã triển khai đầy đủ cả 5 phép toán OLAP kinh điển trong file 04_olap_queries.sql: Roll-up, Drill-down, Slice, Dice và Pivot, bám sát từng ví dụ trong chương 3 của giáo trình.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trả lời Q1, chúng em phân cụm 6,040 người dùng thành 4 phân khúc gu điện ảnh rõ nét. Biểu đồ PCA bên phải thể hiện sự phân tách rõ ràng của 4 cụm trên không gian giảm chiều với tâm cụm đánh dấu chữ X đỏ.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Chi-Square chứng minh bằng toán học với p &lt; 0.001: Sự khác biệt thị hiếu giữa các nhóm tuổi và giới tính không phải ngẫu nhiên mà là quy luật thực tế. Nam thanh niên yêu thích Hành động/Sci-Fi; Nữ và trẻ em thiên về Hài/Gia đình; người lớn tuổi gắn bó với Tâm lý.</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với câu hỏi Q2, chúng em huấn luyện mô hình Lọc cộng tác Item-Based trên ma trận Cosine thưa. Tập kiểm thử được tách theo thời gian 80/20 để đảm bảo tính khách quan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câu hỏi Q2: Khai phá FP-Growth trên các giao dịch rating &gt;= 4 phát hiện những luật kết hợp rất giá trị. Khán giả thích James Cameron có độ tin cậy tới 23.8% sẽ thích Predator. Đặc biệt người thích John Woo có độ nâng Lift trên 5.0 với các phim hành động phong cách cùng thời như Snake Eyes, Eraser.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đã xây dựng sẵn 4 SQL views và tài liệu hướng dẫn docs/powerbi_guide.md gồm đầy đủ công thức DAX để triển khai 4 trang Dashboard quản trị doanh nghiệp chuyên nghiệp trên Power BI Desktop.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kết quả phân tích dữ liệu thực nghiệm, nhóm đưa ra 3 khuyến nghị chiến lược có số liệu bảo chứng rõ ràng giúp nền tảng tối ưu hóa danh mục nội dung và tăng cường giữ chân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kết thúc bài báo cáo tại đây. Cảm ơn quý Thầy Cô đã theo dõi, nhóm em xin sẵn sàng tiếp nhận các câu hỏi phản biện từ Hội đồng chấm thi 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200400"/>
          </a:xfrm>
          <a:prstGeom prst="rect">
            <a:avLst/>
          </a:prstGeom>
          <a:noFill/>
        </p:spPr>
        <p:txBody>
          <a:bodyPr wrap="square">
            <a:spAutoFit/>
          </a:bodyPr>
          <a:lstStyle/>
          <a:p>
            <a:pPr>
              <a:spcAft>
                <a:spcPts val="1200"/>
              </a:spcAft>
              <a:defRPr sz="1300" b="1">
                <a:solidFill>
                  <a:srgbClr val="93C5FD"/>
                </a:solidFill>
              </a:defRPr>
            </a:pPr>
            <a:r>
              <a:t>HỌC VIỆN CÔNG NGHỆ BƯU CHÍNH VIỄN THÔNG • KHOA CNTT 1</a:t>
            </a:r>
          </a:p>
          <a:p>
            <a:pPr>
              <a:spcAft>
                <a:spcPts val="1800"/>
              </a:spcAft>
              <a:defRPr sz="2800" b="1">
                <a:solidFill>
                  <a:srgbClr val="FFFFFF"/>
                </a:solidFill>
              </a:defRPr>
            </a:pPr>
            <a:r>
              <a:t>Khai Phá Kho Dữ Liệu Lịch Sử Xem Phim Để Dự Đoán Thị Hiếu Người Dùng Và Tối Ưu Hóa Danh Mục Nội Dung</a:t>
            </a:r>
          </a:p>
          <a:p>
            <a:pPr>
              <a:spcAft>
                <a:spcPts val="2400"/>
              </a:spcAft>
              <a:defRPr sz="1200">
                <a:solidFill>
                  <a:srgbClr val="E2E8F0"/>
                </a:solidFill>
              </a:defRPr>
            </a:pPr>
            <a:r>
              <a:t>BÁO CÁO BÀI TẬP LỚN CUỐI KỲ MÔN KHO DỮ LIỆU &amp; KỸ THUẬT KHAI PHÁ DỮ LIỆU</a:t>
            </a:r>
          </a:p>
          <a:p>
            <a:pPr>
              <a:defRPr sz="1100" i="1">
                <a:solidFill>
                  <a:srgbClr val="94A3B8"/>
                </a:solidFill>
              </a:defRPr>
            </a:pPr>
            <a:r>
              <a:t>Thực hiện: Nhóm Sinh viên CNTT  |  Hệ quản trị: Microsoft SQL Server 2022  |  Năm học: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3 Câu Hỏi Cốt Lõi Phải Trả Lời Xuyên Suốt Đề Tài</a:t>
            </a:r>
          </a:p>
        </p:txBody>
      </p:sp>
      <p:sp>
        <p:nvSpPr>
          <p:cNvPr id="4" name="Rounded Rectangle 3"/>
          <p:cNvSpPr/>
          <p:nvPr/>
        </p:nvSpPr>
        <p:spPr>
          <a:xfrm>
            <a:off x="731520" y="1645920"/>
            <a:ext cx="32918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Câu hỏi Q1 (Phân Cụm)</a:t>
            </a:r>
          </a:p>
          <a:p>
            <a:pPr>
              <a:spcAft>
                <a:spcPts val="400"/>
              </a:spcAft>
              <a:defRPr sz="1050">
                <a:solidFill>
                  <a:srgbClr val="0F172A"/>
                </a:solidFill>
              </a:defRPr>
            </a:pPr>
            <a:r>
              <a:t>• Vấn đề: Thị hiếu xem phim thay đổi như thế nào theo độ tuổi và giới tính?</a:t>
            </a:r>
          </a:p>
          <a:p>
            <a:pPr>
              <a:spcAft>
                <a:spcPts val="400"/>
              </a:spcAft>
              <a:defRPr sz="1050">
                <a:solidFill>
                  <a:srgbClr val="0F172A"/>
                </a:solidFill>
              </a:defRPr>
            </a:pPr>
            <a:r>
              <a:t>• Phương pháp: Trích xuất vector đặc trưng sở thích 36 chiều (tỷ lệ xem &amp; điểm TB 18 thể loại).</a:t>
            </a:r>
          </a:p>
          <a:p>
            <a:pPr>
              <a:spcAft>
                <a:spcPts val="400"/>
              </a:spcAft>
              <a:defRPr sz="1050">
                <a:solidFill>
                  <a:srgbClr val="0F172A"/>
                </a:solidFill>
              </a:defRPr>
            </a:pPr>
            <a:r>
              <a:t>• Thuật toán: K-Means (Elbow + Silhouette chọn K=4), giảm chiều PCA 2D.</a:t>
            </a:r>
          </a:p>
          <a:p>
            <a:pPr>
              <a:spcAft>
                <a:spcPts val="400"/>
              </a:spcAft>
              <a:defRPr sz="1050">
                <a:solidFill>
                  <a:srgbClr val="0F172A"/>
                </a:solidFill>
              </a:defRPr>
            </a:pPr>
            <a:r>
              <a:t>• Chứng minh: Kiểm định thống kê Chi-Square (chi2) và bảng chéo Crosstab.</a:t>
            </a:r>
          </a:p>
        </p:txBody>
      </p:sp>
      <p:sp>
        <p:nvSpPr>
          <p:cNvPr id="5" name="Rounded Rectangle 4"/>
          <p:cNvSpPr/>
          <p:nvPr/>
        </p:nvSpPr>
        <p:spPr>
          <a:xfrm>
            <a:off x="4389120" y="1645920"/>
            <a:ext cx="32918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Câu hỏi Q2 (Gợi Ý &amp; Luật)</a:t>
            </a:r>
          </a:p>
          <a:p>
            <a:pPr>
              <a:spcAft>
                <a:spcPts val="400"/>
              </a:spcAft>
              <a:defRPr sz="1050">
                <a:solidFill>
                  <a:srgbClr val="0F172A"/>
                </a:solidFill>
              </a:defRPr>
            </a:pPr>
            <a:r>
              <a:t>• Vấn đề: Nếu người dùng thích phim hành động của đạo diễn A, họ có xu hướng thích phim nào tiếp theo?</a:t>
            </a:r>
          </a:p>
          <a:p>
            <a:pPr>
              <a:spcAft>
                <a:spcPts val="400"/>
              </a:spcAft>
              <a:defRPr sz="1050">
                <a:solidFill>
                  <a:srgbClr val="0F172A"/>
                </a:solidFill>
              </a:defRPr>
            </a:pPr>
            <a:r>
              <a:t>• Phương pháp: Collaborative Filtering (Lọc cộng tác Item-based / User-based) chia train/test theo thời gian.</a:t>
            </a:r>
          </a:p>
          <a:p>
            <a:pPr>
              <a:spcAft>
                <a:spcPts val="400"/>
              </a:spcAft>
              <a:defRPr sz="1050">
                <a:solidFill>
                  <a:srgbClr val="0F172A"/>
                </a:solidFill>
              </a:defRPr>
            </a:pPr>
            <a:r>
              <a:t>• Khai phá luật: FP-Growth / Apriori trên tập giao dịch yêu thích (rating &gt;= 4).</a:t>
            </a:r>
          </a:p>
          <a:p>
            <a:pPr>
              <a:spcAft>
                <a:spcPts val="400"/>
              </a:spcAft>
              <a:defRPr sz="1050">
                <a:solidFill>
                  <a:srgbClr val="0F172A"/>
                </a:solidFill>
              </a:defRPr>
            </a:pPr>
            <a:r>
              <a:t>• Độ đo: Đánh giá Support, Confidence và Lift cho từng đạo diễn.</a:t>
            </a:r>
          </a:p>
        </p:txBody>
      </p:sp>
      <p:sp>
        <p:nvSpPr>
          <p:cNvPr id="6" name="Rounded Rectangle 5"/>
          <p:cNvSpPr/>
          <p:nvPr/>
        </p:nvSpPr>
        <p:spPr>
          <a:xfrm>
            <a:off x="8046720" y="1645920"/>
            <a:ext cx="32918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Câu hỏi Q3 (OLAP &amp; QoQ)</a:t>
            </a:r>
          </a:p>
          <a:p>
            <a:pPr>
              <a:spcAft>
                <a:spcPts val="400"/>
              </a:spcAft>
              <a:defRPr sz="1050">
                <a:solidFill>
                  <a:srgbClr val="0F172A"/>
                </a:solidFill>
              </a:defRPr>
            </a:pPr>
            <a:r>
              <a:t>• Vấn đề: Thể loại nào đang tăng trưởng lượt xem mạnh nhất trong các quý gần đây?</a:t>
            </a:r>
          </a:p>
          <a:p>
            <a:pPr>
              <a:spcAft>
                <a:spcPts val="400"/>
              </a:spcAft>
              <a:defRPr sz="1050">
                <a:solidFill>
                  <a:srgbClr val="0F172A"/>
                </a:solidFill>
              </a:defRPr>
            </a:pPr>
            <a:r>
              <a:t>• Phương pháp: Xử lý phân tích trực tuyến OLAP trên SQL Server.</a:t>
            </a:r>
          </a:p>
          <a:p>
            <a:pPr>
              <a:spcAft>
                <a:spcPts val="400"/>
              </a:spcAft>
              <a:defRPr sz="1050">
                <a:solidFill>
                  <a:srgbClr val="0F172A"/>
                </a:solidFill>
              </a:defRPr>
            </a:pPr>
            <a:r>
              <a:t>• Toán tử SQL: GROUP BY ROLLUP / CUBE theo (Year, Quarter, Genre).</a:t>
            </a:r>
          </a:p>
          <a:p>
            <a:pPr>
              <a:spcAft>
                <a:spcPts val="400"/>
              </a:spcAft>
              <a:defRPr sz="1050">
                <a:solidFill>
                  <a:srgbClr val="0F172A"/>
                </a:solidFill>
              </a:defRPr>
            </a:pPr>
            <a:r>
              <a:t>• Đo lường: Dùng window function LAG() tính tốc độ tăng trưởng liên quý (QoQ Growth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Nguồn Dữ Liệu &amp; Quy Trình Làm Sạch, Ghép Nối IMDb</a:t>
            </a:r>
          </a:p>
        </p:txBody>
      </p:sp>
      <p:sp>
        <p:nvSpPr>
          <p:cNvPr id="4" name="Rounded Rectangle 3"/>
          <p:cNvSpPr/>
          <p:nvPr/>
        </p:nvSpPr>
        <p:spPr>
          <a:xfrm>
            <a:off x="731520" y="1645920"/>
            <a:ext cx="512064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MovieLens 1M (Nền tảng)</a:t>
            </a:r>
          </a:p>
          <a:p>
            <a:pPr>
              <a:spcAft>
                <a:spcPts val="400"/>
              </a:spcAft>
              <a:defRPr sz="1050">
                <a:solidFill>
                  <a:srgbClr val="0F172A"/>
                </a:solidFill>
              </a:defRPr>
            </a:pPr>
            <a:r>
              <a:t>• 1,000,209 lượt đánh giá rating từ 6,040 người dùng trên 3,883 bộ phim.</a:t>
            </a:r>
          </a:p>
          <a:p>
            <a:pPr>
              <a:spcAft>
                <a:spcPts val="400"/>
              </a:spcAft>
              <a:defRPr sz="1050">
                <a:solidFill>
                  <a:srgbClr val="0F172A"/>
                </a:solidFill>
              </a:defRPr>
            </a:pPr>
            <a:r>
              <a:t>• Giai đoạn thu thập: Tháng 04/2000 đến Tháng 02/2003.</a:t>
            </a:r>
          </a:p>
          <a:p>
            <a:pPr>
              <a:spcAft>
                <a:spcPts val="400"/>
              </a:spcAft>
              <a:defRPr sz="1050">
                <a:solidFill>
                  <a:srgbClr val="0F172A"/>
                </a:solidFill>
              </a:defRPr>
            </a:pPr>
            <a:r>
              <a:t>• Thông tin nhân khẩu học: Giới tính, 7 nhóm tuổi, 21 nghề nghiệp, mã vùng zip.</a:t>
            </a:r>
          </a:p>
        </p:txBody>
      </p:sp>
      <p:sp>
        <p:nvSpPr>
          <p:cNvPr id="5" name="Rounded Rectangle 4"/>
          <p:cNvSpPr/>
          <p:nvPr/>
        </p:nvSpPr>
        <p:spPr>
          <a:xfrm>
            <a:off x="6217920" y="1645920"/>
            <a:ext cx="512064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IMDb Enrichment (Thực tế)</a:t>
            </a:r>
          </a:p>
          <a:p>
            <a:pPr>
              <a:spcAft>
                <a:spcPts val="400"/>
              </a:spcAft>
              <a:defRPr sz="1050">
                <a:solidFill>
                  <a:srgbClr val="0F172A"/>
                </a:solidFill>
              </a:defRPr>
            </a:pPr>
            <a:r>
              <a:t>• Làm giàu thời lượng phim thực tế (runtime) và đạo diễn chính (director).</a:t>
            </a:r>
          </a:p>
          <a:p>
            <a:pPr>
              <a:spcAft>
                <a:spcPts val="400"/>
              </a:spcAft>
              <a:defRPr sz="1050">
                <a:solidFill>
                  <a:srgbClr val="0F172A"/>
                </a:solidFill>
              </a:defRPr>
            </a:pPr>
            <a:r>
              <a:t>• Tỷ lệ khớp thành công: 88.23% (3,426 / 3,883 phim).</a:t>
            </a:r>
          </a:p>
          <a:p>
            <a:pPr>
              <a:spcAft>
                <a:spcPts val="400"/>
              </a:spcAft>
              <a:defRPr sz="1050">
                <a:solidFill>
                  <a:srgbClr val="0F172A"/>
                </a:solidFill>
              </a:defRPr>
            </a:pPr>
            <a:r>
              <a:t>• Phim không khớp (11.77%): Đặt director = 'Unknown', ghi nhận minh bạch 0 bịa số liệu.</a:t>
            </a:r>
          </a:p>
        </p:txBody>
      </p:sp>
      <p:sp>
        <p:nvSpPr>
          <p:cNvPr id="6" name="Rounded Rectangle 5"/>
          <p:cNvSpPr/>
          <p:nvPr/>
        </p:nvSpPr>
        <p:spPr>
          <a:xfrm>
            <a:off x="731520" y="411480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Dữ liệu mô phỏng thời gian xem</a:t>
            </a:r>
          </a:p>
          <a:p>
            <a:pPr>
              <a:spcAft>
                <a:spcPts val="400"/>
              </a:spcAft>
              <a:defRPr sz="1050">
                <a:solidFill>
                  <a:srgbClr val="0F172A"/>
                </a:solidFill>
              </a:defRPr>
            </a:pPr>
            <a:r>
              <a:t>• watch_minutes = clip(round(runtime * (0.35 + 0.13*rating + noise)), 10, 1.25*runtime).</a:t>
            </a:r>
          </a:p>
          <a:p>
            <a:pPr>
              <a:spcAft>
                <a:spcPts val="400"/>
              </a:spcAft>
              <a:defRPr sz="1050">
                <a:solidFill>
                  <a:srgbClr val="0F172A"/>
                </a:solidFill>
              </a:defRPr>
            </a:pPr>
            <a:r>
              <a:t>• Cố định seed = 42, gắn cờ is_simulated = 1 cho 100% bản ghi Fact.</a:t>
            </a:r>
          </a:p>
          <a:p>
            <a:pPr>
              <a:spcAft>
                <a:spcPts val="400"/>
              </a:spcAft>
              <a:defRPr sz="1050">
                <a:solidFill>
                  <a:srgbClr val="0F172A"/>
                </a:solidFill>
              </a:defRPr>
            </a:pPr>
            <a:r>
              <a:t>• Thời gian xem trung bình thực tế: 92.6 phút (dao động từ 22 đến 359 phút).</a:t>
            </a:r>
          </a:p>
        </p:txBody>
      </p:sp>
      <p:sp>
        <p:nvSpPr>
          <p:cNvPr id="7" name="Rounded Rectangle 6"/>
          <p:cNvSpPr/>
          <p:nvPr/>
        </p:nvSpPr>
        <p:spPr>
          <a:xfrm>
            <a:off x="6217920" y="411480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Netflix Titles (Đối sánh danh mục)</a:t>
            </a:r>
          </a:p>
          <a:p>
            <a:pPr>
              <a:spcAft>
                <a:spcPts val="400"/>
              </a:spcAft>
              <a:defRPr sz="1050">
                <a:solidFill>
                  <a:srgbClr val="0F172A"/>
                </a:solidFill>
              </a:defRPr>
            </a:pPr>
            <a:r>
              <a:t>• 8,807 tựa phim/shows thực tế từ Kaggle / TidyTuesday.</a:t>
            </a:r>
          </a:p>
          <a:p>
            <a:pPr>
              <a:spcAft>
                <a:spcPts val="400"/>
              </a:spcAft>
              <a:defRPr sz="1050">
                <a:solidFill>
                  <a:srgbClr val="0F172A"/>
                </a:solidFill>
              </a:defRPr>
            </a:pPr>
            <a:r>
              <a:t>• Dùng phân tích phân bố thể loại thị trường thực tế để so sánh với thị hiếu người dùng.</a:t>
            </a:r>
          </a:p>
          <a:p>
            <a:pPr>
              <a:spcAft>
                <a:spcPts val="400"/>
              </a:spcAft>
              <a:defRPr sz="1050">
                <a:solidFill>
                  <a:srgbClr val="0F172A"/>
                </a:solidFill>
              </a:defRPr>
            </a:pPr>
            <a:r>
              <a:t>• Cơ sở vững chắc để xây dựng 3 đề xuất tối ưu hóa nội dung.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Thiết Kế Kho Dữ Liệu: Lược Đồ Hình Sao (Star Schema)</a:t>
            </a:r>
          </a:p>
        </p:txBody>
      </p:sp>
      <p:sp>
        <p:nvSpPr>
          <p:cNvPr id="4" name="Rounded Rectangle 3"/>
          <p:cNvSpPr/>
          <p:nvPr/>
        </p:nvSpPr>
        <p:spPr>
          <a:xfrm>
            <a:off x="731520" y="1645920"/>
            <a:ext cx="32918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Fact Table: FactRating</a:t>
            </a:r>
          </a:p>
          <a:p>
            <a:pPr>
              <a:spcAft>
                <a:spcPts val="400"/>
              </a:spcAft>
              <a:defRPr sz="1050">
                <a:solidFill>
                  <a:srgbClr val="0F172A"/>
                </a:solidFill>
              </a:defRPr>
            </a:pPr>
            <a:r>
              <a:t>• Mức độ chi tiết (Grain): 1 sự kiện đánh giá của 1 user cho 1 movie tại 1 ngày.</a:t>
            </a:r>
          </a:p>
          <a:p>
            <a:pPr>
              <a:spcAft>
                <a:spcPts val="400"/>
              </a:spcAft>
              <a:defRPr sz="1050">
                <a:solidFill>
                  <a:srgbClr val="0F172A"/>
                </a:solidFill>
              </a:defRPr>
            </a:pPr>
            <a:r>
              <a:t>• Quy mô: 1,000,209 bản ghi.</a:t>
            </a:r>
          </a:p>
          <a:p>
            <a:pPr>
              <a:spcAft>
                <a:spcPts val="400"/>
              </a:spcAft>
              <a:defRPr sz="1050">
                <a:solidFill>
                  <a:srgbClr val="0F172A"/>
                </a:solidFill>
              </a:defRPr>
            </a:pPr>
            <a:r>
              <a:t>• Khóa ngoại: user_key, movie_key, date_key.</a:t>
            </a:r>
          </a:p>
          <a:p>
            <a:pPr>
              <a:spcAft>
                <a:spcPts val="400"/>
              </a:spcAft>
              <a:defRPr sz="1050">
                <a:solidFill>
                  <a:srgbClr val="0F172A"/>
                </a:solidFill>
              </a:defRPr>
            </a:pPr>
            <a:r>
              <a:t>• Độ đo (Measures): rating (1-5 sao), watch_minutes (thời gian xem).</a:t>
            </a:r>
          </a:p>
          <a:p>
            <a:pPr>
              <a:spcAft>
                <a:spcPts val="400"/>
              </a:spcAft>
              <a:defRPr sz="1050">
                <a:solidFill>
                  <a:srgbClr val="0F172A"/>
                </a:solidFill>
              </a:defRPr>
            </a:pPr>
            <a:r>
              <a:t>• Cờ metadata: is_simulated = 1.</a:t>
            </a:r>
          </a:p>
        </p:txBody>
      </p:sp>
      <p:sp>
        <p:nvSpPr>
          <p:cNvPr id="5" name="Rounded Rectangle 4"/>
          <p:cNvSpPr/>
          <p:nvPr/>
        </p:nvSpPr>
        <p:spPr>
          <a:xfrm>
            <a:off x="4389120" y="1645920"/>
            <a:ext cx="32918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5 Dimension Tables</a:t>
            </a:r>
          </a:p>
          <a:p>
            <a:pPr>
              <a:spcAft>
                <a:spcPts val="400"/>
              </a:spcAft>
              <a:defRPr sz="1050">
                <a:solidFill>
                  <a:srgbClr val="0F172A"/>
                </a:solidFill>
              </a:defRPr>
            </a:pPr>
            <a:r>
              <a:t>• DimUser: 6,040 người dùng (gender, age_group, occupation).</a:t>
            </a:r>
          </a:p>
          <a:p>
            <a:pPr>
              <a:spcAft>
                <a:spcPts val="400"/>
              </a:spcAft>
              <a:defRPr sz="1050">
                <a:solidFill>
                  <a:srgbClr val="0F172A"/>
                </a:solidFill>
              </a:defRPr>
            </a:pPr>
            <a:r>
              <a:t>• DimMovie: 3,883 bộ phim (title, release_year, runtime, imdb_id).</a:t>
            </a:r>
          </a:p>
          <a:p>
            <a:pPr>
              <a:spcAft>
                <a:spcPts val="400"/>
              </a:spcAft>
              <a:defRPr sz="1050">
                <a:solidFill>
                  <a:srgbClr val="0F172A"/>
                </a:solidFill>
              </a:defRPr>
            </a:pPr>
            <a:r>
              <a:t>• DimDirector: 1,775 đạo diễn định danh từ IMDb.</a:t>
            </a:r>
          </a:p>
          <a:p>
            <a:pPr>
              <a:spcAft>
                <a:spcPts val="400"/>
              </a:spcAft>
              <a:defRPr sz="1050">
                <a:solidFill>
                  <a:srgbClr val="0F172A"/>
                </a:solidFill>
              </a:defRPr>
            </a:pPr>
            <a:r>
              <a:t>• DimGenre: 18 thể loại chuẩn hóa.</a:t>
            </a:r>
          </a:p>
          <a:p>
            <a:pPr>
              <a:spcAft>
                <a:spcPts val="400"/>
              </a:spcAft>
              <a:defRPr sz="1050">
                <a:solidFill>
                  <a:srgbClr val="0F172A"/>
                </a:solidFill>
              </a:defRPr>
            </a:pPr>
            <a:r>
              <a:t>• DimDate: 1,040 ngày (Year, Quarter, Month, Day, DayOfWeek, Weekend).</a:t>
            </a:r>
          </a:p>
        </p:txBody>
      </p:sp>
      <p:sp>
        <p:nvSpPr>
          <p:cNvPr id="6" name="Rounded Rectangle 5"/>
          <p:cNvSpPr/>
          <p:nvPr/>
        </p:nvSpPr>
        <p:spPr>
          <a:xfrm>
            <a:off x="8046720" y="1645920"/>
            <a:ext cx="32918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Bridge Table &amp; Indexing</a:t>
            </a:r>
          </a:p>
          <a:p>
            <a:pPr>
              <a:spcAft>
                <a:spcPts val="400"/>
              </a:spcAft>
              <a:defRPr sz="1050">
                <a:solidFill>
                  <a:srgbClr val="0F172A"/>
                </a:solidFill>
              </a:defRPr>
            </a:pPr>
            <a:r>
              <a:t>• BridgeMovieGenre: 6,408 liên kết xử lý quan hệ nhiều-nhiều (N:N).</a:t>
            </a:r>
          </a:p>
          <a:p>
            <a:pPr>
              <a:spcAft>
                <a:spcPts val="400"/>
              </a:spcAft>
              <a:defRPr sz="1050">
                <a:solidFill>
                  <a:srgbClr val="0F172A"/>
                </a:solidFill>
              </a:defRPr>
            </a:pPr>
            <a:r>
              <a:t>• Indexing tối ưu hóa OLAP:</a:t>
            </a:r>
          </a:p>
          <a:p>
            <a:pPr>
              <a:spcAft>
                <a:spcPts val="400"/>
              </a:spcAft>
              <a:defRPr sz="1050">
                <a:solidFill>
                  <a:srgbClr val="0F172A"/>
                </a:solidFill>
              </a:defRPr>
            </a:pPr>
            <a:r>
              <a:t>• - Non-clustered index trên user_key, movie_key, date_key (có INCLUDE measures).</a:t>
            </a:r>
          </a:p>
          <a:p>
            <a:pPr>
              <a:spcAft>
                <a:spcPts val="400"/>
              </a:spcAft>
              <a:defRPr sz="1050">
                <a:solidFill>
                  <a:srgbClr val="0F172A"/>
                </a:solidFill>
              </a:defRPr>
            </a:pPr>
            <a:r>
              <a:t>• - Index trên BridgeMovieGenre(genre_key, movie_key).</a:t>
            </a:r>
          </a:p>
          <a:p>
            <a:pPr>
              <a:spcAft>
                <a:spcPts val="400"/>
              </a:spcAft>
              <a:defRPr sz="1050">
                <a:solidFill>
                  <a:srgbClr val="0F172A"/>
                </a:solidFill>
              </a:defRPr>
            </a:pPr>
            <a:r>
              <a:t>• - Index trên DimDate(year, quarter).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Quy Trình ETL &amp; Kiểm Toán Chất Lượng Dữ Liệu (Audit)</a:t>
            </a:r>
          </a:p>
        </p:txBody>
      </p:sp>
      <p:sp>
        <p:nvSpPr>
          <p:cNvPr id="4" name="Rounded Rectangle 3"/>
          <p:cNvSpPr/>
          <p:nvPr/>
        </p:nvSpPr>
        <p:spPr>
          <a:xfrm>
            <a:off x="731520" y="1645920"/>
            <a:ext cx="51206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Kiến Trúc ETL 2 Phân Tầng</a:t>
            </a:r>
          </a:p>
          <a:p>
            <a:pPr>
              <a:spcAft>
                <a:spcPts val="400"/>
              </a:spcAft>
              <a:defRPr sz="1050">
                <a:solidFill>
                  <a:srgbClr val="0F172A"/>
                </a:solidFill>
              </a:defRPr>
            </a:pPr>
            <a:r>
              <a:t>• Phân tầng Staging (stg): 7 bảng đệm trung gian không ràng buộc FK, cho phép nạp siêu tốc theo khối (bulk batch).</a:t>
            </a:r>
          </a:p>
          <a:p>
            <a:pPr>
              <a:spcAft>
                <a:spcPts val="400"/>
              </a:spcAft>
              <a:defRPr sz="1050">
                <a:solidFill>
                  <a:srgbClr val="0F172A"/>
                </a:solidFill>
              </a:defRPr>
            </a:pPr>
            <a:r>
              <a:t>• Phân tầng Kho dữ liệu (dw): Chuyển đổi khóa tự nhiên thành Surrogate Keys, thực thi ràng buộc toàn vẹn tham chiếu.</a:t>
            </a:r>
          </a:p>
          <a:p>
            <a:pPr>
              <a:spcAft>
                <a:spcPts val="400"/>
              </a:spcAft>
              <a:defRPr sz="1050">
                <a:solidFill>
                  <a:srgbClr val="0F172A"/>
                </a:solidFill>
              </a:defRPr>
            </a:pPr>
            <a:r>
              <a:t>• Thời gian nạp thực tế:</a:t>
            </a:r>
          </a:p>
          <a:p>
            <a:pPr>
              <a:spcAft>
                <a:spcPts val="400"/>
              </a:spcAft>
              <a:defRPr sz="1050">
                <a:solidFill>
                  <a:srgbClr val="0F172A"/>
                </a:solidFill>
              </a:defRPr>
            </a:pPr>
            <a:r>
              <a:t>• - Nạp 1M ratings vào Staging: 251 giây.</a:t>
            </a:r>
          </a:p>
          <a:p>
            <a:pPr>
              <a:spcAft>
                <a:spcPts val="400"/>
              </a:spcAft>
              <a:defRPr sz="1050">
                <a:solidFill>
                  <a:srgbClr val="0F172A"/>
                </a:solidFill>
              </a:defRPr>
            </a:pPr>
            <a:r>
              <a:t>• - Thực thi phép nối nạp FactRating: 20.7 giây.</a:t>
            </a:r>
          </a:p>
          <a:p>
            <a:pPr>
              <a:spcAft>
                <a:spcPts val="400"/>
              </a:spcAft>
              <a:defRPr sz="1050">
                <a:solidFill>
                  <a:srgbClr val="0F172A"/>
                </a:solidFill>
              </a:defRPr>
            </a:pPr>
            <a:r>
              <a:t>• - Tổng thời gian ETL toàn hệ thống: ~4.6 phút.</a:t>
            </a:r>
          </a:p>
        </p:txBody>
      </p:sp>
      <p:sp>
        <p:nvSpPr>
          <p:cNvPr id="5" name="Rounded Rectangle 4"/>
          <p:cNvSpPr/>
          <p:nvPr/>
        </p:nvSpPr>
        <p:spPr>
          <a:xfrm>
            <a:off x="6217920" y="1645920"/>
            <a:ext cx="51206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5/5 Bài Kiểm Toán Chất Lượng (100% Pass)</a:t>
            </a:r>
          </a:p>
          <a:p>
            <a:pPr>
              <a:spcAft>
                <a:spcPts val="400"/>
              </a:spcAft>
              <a:defRPr sz="1050">
                <a:solidFill>
                  <a:srgbClr val="0F172A"/>
                </a:solidFill>
              </a:defRPr>
            </a:pPr>
            <a:r>
              <a:t>• Audit 1 (Row Count): FactRating đạt chính xác 1,000,209 dòng; DimUser 6,040 dòng; DimMovie 3,883 dòng (Khớp 100%).</a:t>
            </a:r>
          </a:p>
          <a:p>
            <a:pPr>
              <a:spcAft>
                <a:spcPts val="400"/>
              </a:spcAft>
              <a:defRPr sz="1050">
                <a:solidFill>
                  <a:srgbClr val="0F172A"/>
                </a:solidFill>
              </a:defRPr>
            </a:pPr>
            <a:r>
              <a:t>• Audit 2 (Null Check): 0 giá trị NULL trong toàn bộ khóa chính, khóa ngoại và độ đo.</a:t>
            </a:r>
          </a:p>
          <a:p>
            <a:pPr>
              <a:spcAft>
                <a:spcPts val="400"/>
              </a:spcAft>
              <a:defRPr sz="1050">
                <a:solidFill>
                  <a:srgbClr val="0F172A"/>
                </a:solidFill>
              </a:defRPr>
            </a:pPr>
            <a:r>
              <a:t>• Audit 3 (Orphan Key): 0 khóa ngoại mồ côi (100% bản ghi Fact liên kết đúng Dim).</a:t>
            </a:r>
          </a:p>
          <a:p>
            <a:pPr>
              <a:spcAft>
                <a:spcPts val="400"/>
              </a:spcAft>
              <a:defRPr sz="1050">
                <a:solidFill>
                  <a:srgbClr val="0F172A"/>
                </a:solidFill>
              </a:defRPr>
            </a:pPr>
            <a:r>
              <a:t>• Audit 4 (Uniqueness): 0 trùng lặp định danh tự nhiên trong các bảng Dimension.</a:t>
            </a:r>
          </a:p>
          <a:p>
            <a:pPr>
              <a:spcAft>
                <a:spcPts val="400"/>
              </a:spcAft>
              <a:defRPr sz="1050">
                <a:solidFill>
                  <a:srgbClr val="0F172A"/>
                </a:solidFill>
              </a:defRPr>
            </a:pPr>
            <a:r>
              <a:t>• Audit 5 (Range Check): Điểm rating nghiêm ngặt [1..5], thời gian xem 22..359 phút.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Xử Lý Phân Tích Trực Tuyến OLAP: Tăng Trưởng QoQ (Q3)</a:t>
            </a:r>
          </a:p>
        </p:txBody>
      </p:sp>
      <p:sp>
        <p:nvSpPr>
          <p:cNvPr id="4" name="Rounded Rectangle 3"/>
          <p:cNvSpPr/>
          <p:nvPr/>
        </p:nvSpPr>
        <p:spPr>
          <a:xfrm>
            <a:off x="731520" y="1645920"/>
            <a:ext cx="493776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Thể Loại Tăng Trưởng Mạnh Nhất Quý Gần Đây</a:t>
            </a:r>
          </a:p>
          <a:p>
            <a:pPr>
              <a:spcAft>
                <a:spcPts val="400"/>
              </a:spcAft>
              <a:defRPr sz="1050">
                <a:solidFill>
                  <a:srgbClr val="0F172A"/>
                </a:solidFill>
              </a:defRPr>
            </a:pPr>
            <a:r>
              <a:t>• Truy vấn ROLLUP / CUBE kết hợp window function LAG() tính QoQ.</a:t>
            </a:r>
          </a:p>
          <a:p>
            <a:pPr>
              <a:spcAft>
                <a:spcPts val="400"/>
              </a:spcAft>
              <a:defRPr sz="1050">
                <a:solidFill>
                  <a:srgbClr val="0F172A"/>
                </a:solidFill>
              </a:defRPr>
            </a:pPr>
            <a:r>
              <a:t>• Quý 2003-Q1 (Quý gần nhất):</a:t>
            </a:r>
          </a:p>
          <a:p>
            <a:pPr>
              <a:spcAft>
                <a:spcPts val="400"/>
              </a:spcAft>
              <a:defRPr sz="1050">
                <a:solidFill>
                  <a:srgbClr val="0F172A"/>
                </a:solidFill>
              </a:defRPr>
            </a:pPr>
            <a:r>
              <a:t>•   1. Sci-Fi (Khoa học viễn tưởng): +17.02% QoQ (440 lượt xem)</a:t>
            </a:r>
          </a:p>
          <a:p>
            <a:pPr>
              <a:spcAft>
                <a:spcPts val="400"/>
              </a:spcAft>
              <a:defRPr sz="1050">
                <a:solidFill>
                  <a:srgbClr val="0F172A"/>
                </a:solidFill>
              </a:defRPr>
            </a:pPr>
            <a:r>
              <a:t>•   2. Documentary (Phim tài liệu): +15.09% QoQ (61 lượt xem)</a:t>
            </a:r>
          </a:p>
          <a:p>
            <a:pPr>
              <a:spcAft>
                <a:spcPts val="400"/>
              </a:spcAft>
              <a:defRPr sz="1050">
                <a:solidFill>
                  <a:srgbClr val="0F172A"/>
                </a:solidFill>
              </a:defRPr>
            </a:pPr>
            <a:r>
              <a:t>•   3. Western (Phim viễn tây): +13.85% QoQ (74 lượt xem)</a:t>
            </a:r>
          </a:p>
          <a:p>
            <a:pPr>
              <a:spcAft>
                <a:spcPts val="400"/>
              </a:spcAft>
              <a:defRPr sz="1050">
                <a:solidFill>
                  <a:srgbClr val="0F172A"/>
                </a:solidFill>
              </a:defRPr>
            </a:pPr>
            <a:r>
              <a:t>•   4. Adventure (Phiêu lưu): +2.64% QoQ (350 lượt xem)</a:t>
            </a:r>
          </a:p>
          <a:p>
            <a:pPr>
              <a:spcAft>
                <a:spcPts val="400"/>
              </a:spcAft>
              <a:defRPr sz="1050">
                <a:solidFill>
                  <a:srgbClr val="0F172A"/>
                </a:solidFill>
              </a:defRPr>
            </a:pPr>
            <a:r>
              <a:t>• Quý 2002-Q4: Film-Noir (0.0%), Romance (-3.0%), Musical (-6.4%).</a:t>
            </a:r>
          </a:p>
          <a:p>
            <a:pPr>
              <a:spcAft>
                <a:spcPts val="400"/>
              </a:spcAft>
              <a:defRPr sz="1050">
                <a:solidFill>
                  <a:srgbClr val="0F172A"/>
                </a:solidFill>
              </a:defRPr>
            </a:pPr>
            <a:r>
              <a:t>• Nhận xét: Các thể loại ngách (Sci-Fi, Documentary) đang tăng trưởng vượt trội so với các thể loại bão hòa (Comedy, Drama).</a:t>
            </a:r>
          </a:p>
        </p:txBody>
      </p:sp>
      <p:pic>
        <p:nvPicPr>
          <p:cNvPr id="5" name="Picture 4" descr="qoq_growth_chart.png"/>
          <p:cNvPicPr>
            <a:picLocks noChangeAspect="1"/>
          </p:cNvPicPr>
          <p:nvPr/>
        </p:nvPicPr>
        <p:blipFill>
          <a:blip r:embed="rId2"/>
          <a:stretch>
            <a:fillRect/>
          </a:stretch>
        </p:blipFill>
        <p:spPr>
          <a:xfrm>
            <a:off x="5943600" y="1645920"/>
            <a:ext cx="5486400" cy="2743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Đầy Đủ 5 Phép Toán OLAP Trong sql/04_olap_queries.sql</a:t>
            </a:r>
          </a:p>
        </p:txBody>
      </p:sp>
      <p:sp>
        <p:nvSpPr>
          <p:cNvPr id="4" name="Rounded Rectangle 3"/>
          <p:cNvSpPr/>
          <p:nvPr/>
        </p:nvSpPr>
        <p:spPr>
          <a:xfrm>
            <a:off x="731520" y="1645920"/>
            <a:ext cx="32918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Roll-up (Cuộn lên)</a:t>
            </a:r>
          </a:p>
          <a:p>
            <a:pPr>
              <a:spcAft>
                <a:spcPts val="400"/>
              </a:spcAft>
              <a:defRPr sz="1050">
                <a:solidFill>
                  <a:srgbClr val="0F172A"/>
                </a:solidFill>
              </a:defRPr>
            </a:pPr>
            <a:r>
              <a:t>• Tổng hợp từ Ngày -&gt; Tháng -&gt; Quý -&gt; Năm.</a:t>
            </a:r>
          </a:p>
          <a:p>
            <a:pPr>
              <a:spcAft>
                <a:spcPts val="400"/>
              </a:spcAft>
              <a:defRPr sz="1050">
                <a:solidFill>
                  <a:srgbClr val="0F172A"/>
                </a:solidFill>
              </a:defRPr>
            </a:pPr>
            <a:r>
              <a:t>• GROUP BY ROLLUP (year, quarter, genre_name).</a:t>
            </a:r>
          </a:p>
          <a:p>
            <a:pPr>
              <a:spcAft>
                <a:spcPts val="400"/>
              </a:spcAft>
              <a:defRPr sz="1050">
                <a:solidFill>
                  <a:srgbClr val="0F172A"/>
                </a:solidFill>
              </a:defRPr>
            </a:pPr>
            <a:r>
              <a:t>• Tính tổng phụ từng quý, từng năm và tổng toàn bộ.</a:t>
            </a:r>
          </a:p>
        </p:txBody>
      </p:sp>
      <p:sp>
        <p:nvSpPr>
          <p:cNvPr id="5" name="Rounded Rectangle 4"/>
          <p:cNvSpPr/>
          <p:nvPr/>
        </p:nvSpPr>
        <p:spPr>
          <a:xfrm>
            <a:off x="4389120" y="1645920"/>
            <a:ext cx="32918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Drill-down (Khoan sâu)</a:t>
            </a:r>
          </a:p>
          <a:p>
            <a:pPr>
              <a:spcAft>
                <a:spcPts val="400"/>
              </a:spcAft>
              <a:defRPr sz="1050">
                <a:solidFill>
                  <a:srgbClr val="0F172A"/>
                </a:solidFill>
              </a:defRPr>
            </a:pPr>
            <a:r>
              <a:t>• Đi sâu từ Năm 2000 -&gt; Quý -&gt; Tháng.</a:t>
            </a:r>
          </a:p>
          <a:p>
            <a:pPr>
              <a:spcAft>
                <a:spcPts val="400"/>
              </a:spcAft>
              <a:defRPr sz="1050">
                <a:solidFill>
                  <a:srgbClr val="0F172A"/>
                </a:solidFill>
              </a:defRPr>
            </a:pPr>
            <a:r>
              <a:t>• Khảo sát chi tiết lượt xem tháng 5, 6, 7 (mùa hè) và tháng 11, 12 (dịp lễ).</a:t>
            </a:r>
          </a:p>
        </p:txBody>
      </p:sp>
      <p:sp>
        <p:nvSpPr>
          <p:cNvPr id="6" name="Rounded Rectangle 5"/>
          <p:cNvSpPr/>
          <p:nvPr/>
        </p:nvSpPr>
        <p:spPr>
          <a:xfrm>
            <a:off x="8046720" y="1645920"/>
            <a:ext cx="32918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Slice (Cắt lát)</a:t>
            </a:r>
          </a:p>
          <a:p>
            <a:pPr>
              <a:spcAft>
                <a:spcPts val="400"/>
              </a:spcAft>
              <a:defRPr sz="1050">
                <a:solidFill>
                  <a:srgbClr val="0F172A"/>
                </a:solidFill>
              </a:defRPr>
            </a:pPr>
            <a:r>
              <a:t>• Cố định một chiều: genre_name = 'Action'.</a:t>
            </a:r>
          </a:p>
          <a:p>
            <a:pPr>
              <a:spcAft>
                <a:spcPts val="400"/>
              </a:spcAft>
              <a:defRPr sz="1050">
                <a:solidFill>
                  <a:srgbClr val="0F172A"/>
                </a:solidFill>
              </a:defRPr>
            </a:pPr>
            <a:r>
              <a:t>• Xem ma trận 2 chiều Năm x Nhóm tuổi của khán giả phim hành động.</a:t>
            </a:r>
          </a:p>
        </p:txBody>
      </p:sp>
      <p:sp>
        <p:nvSpPr>
          <p:cNvPr id="7" name="Rounded Rectangle 6"/>
          <p:cNvSpPr/>
          <p:nvPr/>
        </p:nvSpPr>
        <p:spPr>
          <a:xfrm>
            <a:off x="731520" y="402336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Dice (Cắt khối đa chiều)</a:t>
            </a:r>
          </a:p>
          <a:p>
            <a:pPr>
              <a:spcAft>
                <a:spcPts val="400"/>
              </a:spcAft>
              <a:defRPr sz="1050">
                <a:solidFill>
                  <a:srgbClr val="0F172A"/>
                </a:solidFill>
              </a:defRPr>
            </a:pPr>
            <a:r>
              <a:t>• Lọc khối con đa điều kiện:</a:t>
            </a:r>
          </a:p>
          <a:p>
            <a:pPr>
              <a:spcAft>
                <a:spcPts val="400"/>
              </a:spcAft>
              <a:defRPr sz="1050">
                <a:solidFill>
                  <a:srgbClr val="0F172A"/>
                </a:solidFill>
              </a:defRPr>
            </a:pPr>
            <a:r>
              <a:t>• Năm IN (2001, 2002) AND Thể loại IN ('Action', 'Drama') AND Giới tính = 'Female'.</a:t>
            </a:r>
          </a:p>
          <a:p>
            <a:pPr>
              <a:spcAft>
                <a:spcPts val="400"/>
              </a:spcAft>
              <a:defRPr sz="1050">
                <a:solidFill>
                  <a:srgbClr val="0F172A"/>
                </a:solidFill>
              </a:defRPr>
            </a:pPr>
            <a:r>
              <a:t>• Phân tích thị hiếu khán giả nữ với 2 thể loại đối lập.</a:t>
            </a:r>
          </a:p>
        </p:txBody>
      </p:sp>
      <p:sp>
        <p:nvSpPr>
          <p:cNvPr id="8" name="Rounded Rectangle 7"/>
          <p:cNvSpPr/>
          <p:nvPr/>
        </p:nvSpPr>
        <p:spPr>
          <a:xfrm>
            <a:off x="6217920" y="402336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Pivot (Xoay khối dữ liệu)</a:t>
            </a:r>
          </a:p>
          <a:p>
            <a:pPr>
              <a:spcAft>
                <a:spcPts val="400"/>
              </a:spcAft>
              <a:defRPr sz="1050">
                <a:solidFill>
                  <a:srgbClr val="0F172A"/>
                </a:solidFill>
              </a:defRPr>
            </a:pPr>
            <a:r>
              <a:t>• Xoay các quý (2000_Q2 .. 2002_Q4) thành các cột ngang bằng toán tử PIVOT T-SQL.</a:t>
            </a:r>
          </a:p>
          <a:p>
            <a:pPr>
              <a:spcAft>
                <a:spcPts val="400"/>
              </a:spcAft>
              <a:defRPr sz="1050">
                <a:solidFill>
                  <a:srgbClr val="0F172A"/>
                </a:solidFill>
              </a:defRPr>
            </a:pPr>
            <a:r>
              <a:t>• Trực quan hóa ma trận so sánh xu hướng lượt xem các thể loại trên 1 màn hình.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Khai Phá Phân Cụm Người Dùng Bằng K-Means &amp; PCA (Q1)</a:t>
            </a:r>
          </a:p>
        </p:txBody>
      </p:sp>
      <p:sp>
        <p:nvSpPr>
          <p:cNvPr id="4" name="Rounded Rectangle 3"/>
          <p:cNvSpPr/>
          <p:nvPr/>
        </p:nvSpPr>
        <p:spPr>
          <a:xfrm>
            <a:off x="731520" y="1645920"/>
            <a:ext cx="493776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Chân Dung 4 Cụm Thị Hiếu Khán Giả</a:t>
            </a:r>
          </a:p>
          <a:p>
            <a:pPr>
              <a:spcAft>
                <a:spcPts val="400"/>
              </a:spcAft>
              <a:defRPr sz="1050">
                <a:solidFill>
                  <a:srgbClr val="0F172A"/>
                </a:solidFill>
              </a:defRPr>
            </a:pPr>
            <a:r>
              <a:t>• Xác định K=4 tối ưu qua Elbow (SSE) &amp; Silhouette.</a:t>
            </a:r>
          </a:p>
          <a:p>
            <a:pPr>
              <a:spcAft>
                <a:spcPts val="400"/>
              </a:spcAft>
              <a:defRPr sz="1050">
                <a:solidFill>
                  <a:srgbClr val="0F172A"/>
                </a:solidFill>
              </a:defRPr>
            </a:pPr>
            <a:r>
              <a:t>• Cụm 0 (26.1% - 1,579 users): Tín đồ Hành động &amp; Sci-Fi (Action 18.3%, Sci-Fi 12.6%).</a:t>
            </a:r>
          </a:p>
          <a:p>
            <a:pPr>
              <a:spcAft>
                <a:spcPts val="400"/>
              </a:spcAft>
              <a:defRPr sz="1050">
                <a:solidFill>
                  <a:srgbClr val="0F172A"/>
                </a:solidFill>
              </a:defRPr>
            </a:pPr>
            <a:r>
              <a:t>• Cụm 1 (36.0% - 2,177 users): Khán giả Tâm lý &amp; Lãng mạn (Drama 24.0%, Romance 8.7%).</a:t>
            </a:r>
          </a:p>
          <a:p>
            <a:pPr>
              <a:spcAft>
                <a:spcPts val="400"/>
              </a:spcAft>
              <a:defRPr sz="1050">
                <a:solidFill>
                  <a:srgbClr val="0F172A"/>
                </a:solidFill>
              </a:defRPr>
            </a:pPr>
            <a:r>
              <a:t>• Cụm 2 (31.2% - 1,882 users): Khán giả Giải trí Đại chúng (Comedy 18.9%, Drama 18.0%).</a:t>
            </a:r>
          </a:p>
          <a:p>
            <a:pPr>
              <a:spcAft>
                <a:spcPts val="400"/>
              </a:spcAft>
              <a:defRPr sz="1050">
                <a:solidFill>
                  <a:srgbClr val="0F172A"/>
                </a:solidFill>
              </a:defRPr>
            </a:pPr>
            <a:r>
              <a:t>• Cụm 3 (6.7% - 402 users): Khán giả Gia đình &amp; Thiếu nhi (Comedy 19.4%, Children's 11.9%).</a:t>
            </a:r>
          </a:p>
        </p:txBody>
      </p:sp>
      <p:pic>
        <p:nvPicPr>
          <p:cNvPr id="5" name="Picture 4" descr="kmeans_clusters_pca.png"/>
          <p:cNvPicPr>
            <a:picLocks noChangeAspect="1"/>
          </p:cNvPicPr>
          <p:nvPr/>
        </p:nvPicPr>
        <p:blipFill>
          <a:blip r:embed="rId2"/>
          <a:stretch>
            <a:fillRect/>
          </a:stretch>
        </p:blipFill>
        <p:spPr>
          <a:xfrm>
            <a:off x="5943600" y="1645920"/>
            <a:ext cx="5486400" cy="3840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Kiểm Định Thống Kê Chi-Square: Thị Hiếu Theo Tuổi &amp; Giới Tính (Q1)</a:t>
            </a:r>
          </a:p>
        </p:txBody>
      </p:sp>
      <p:sp>
        <p:nvSpPr>
          <p:cNvPr id="4" name="Rounded Rectangle 3"/>
          <p:cNvSpPr/>
          <p:nvPr/>
        </p:nvSpPr>
        <p:spPr>
          <a:xfrm>
            <a:off x="731520" y="1645920"/>
            <a:ext cx="493776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Kết Quả Kiểm Định Chi-Square (p &lt; 0.001)</a:t>
            </a:r>
          </a:p>
          <a:p>
            <a:pPr>
              <a:spcAft>
                <a:spcPts val="400"/>
              </a:spcAft>
              <a:defRPr sz="1050">
                <a:solidFill>
                  <a:srgbClr val="0F172A"/>
                </a:solidFill>
              </a:defRPr>
            </a:pPr>
            <a:r>
              <a:t>• 1. Phân tích Giới tính (Gender):</a:t>
            </a:r>
          </a:p>
          <a:p>
            <a:pPr>
              <a:spcAft>
                <a:spcPts val="400"/>
              </a:spcAft>
              <a:defRPr sz="1050">
                <a:solidFill>
                  <a:srgbClr val="0F172A"/>
                </a:solidFill>
              </a:defRPr>
            </a:pPr>
            <a:r>
              <a:t>• - Chi2 = 358.78, p-value = 1.87e-77, DoF = 3.</a:t>
            </a:r>
          </a:p>
          <a:p>
            <a:pPr>
              <a:spcAft>
                <a:spcPts val="400"/>
              </a:spcAft>
              <a:defRPr sz="1050">
                <a:solidFill>
                  <a:srgbClr val="0F172A"/>
                </a:solidFill>
              </a:defRPr>
            </a:pPr>
            <a:r>
              <a:t>• - Cụm 0 (Action/Sci-Fi): 86.26% là Nam (áp đảo).</a:t>
            </a:r>
          </a:p>
          <a:p>
            <a:pPr>
              <a:spcAft>
                <a:spcPts val="400"/>
              </a:spcAft>
              <a:defRPr sz="1050">
                <a:solidFill>
                  <a:srgbClr val="0F172A"/>
                </a:solidFill>
              </a:defRPr>
            </a:pPr>
            <a:r>
              <a:t>• - Cụm 3 (Thiếu nhi/Gia đình): 54.98% là Nữ.</a:t>
            </a:r>
          </a:p>
          <a:p>
            <a:pPr>
              <a:spcAft>
                <a:spcPts val="400"/>
              </a:spcAft>
              <a:defRPr sz="1050">
                <a:solidFill>
                  <a:srgbClr val="0F172A"/>
                </a:solidFill>
              </a:defRPr>
            </a:pPr>
            <a:r>
              <a:t>• 2. Phân tích Nhóm tuổi (Age Groups):</a:t>
            </a:r>
          </a:p>
          <a:p>
            <a:pPr>
              <a:spcAft>
                <a:spcPts val="400"/>
              </a:spcAft>
              <a:defRPr sz="1050">
                <a:solidFill>
                  <a:srgbClr val="0F172A"/>
                </a:solidFill>
              </a:defRPr>
            </a:pPr>
            <a:r>
              <a:t>• - Chi2 = 329.21, p-value = 4.58e-59, DoF = 18.</a:t>
            </a:r>
          </a:p>
          <a:p>
            <a:pPr>
              <a:spcAft>
                <a:spcPts val="400"/>
              </a:spcAft>
              <a:defRPr sz="1050">
                <a:solidFill>
                  <a:srgbClr val="0F172A"/>
                </a:solidFill>
              </a:defRPr>
            </a:pPr>
            <a:r>
              <a:t>• - Nhóm Under 18: Tập trung cao đột biến tại Cụm 3 (14.43%, gấp 5 lần cụm khác).</a:t>
            </a:r>
          </a:p>
          <a:p>
            <a:pPr>
              <a:spcAft>
                <a:spcPts val="400"/>
              </a:spcAft>
              <a:defRPr sz="1050">
                <a:solidFill>
                  <a:srgbClr val="0F172A"/>
                </a:solidFill>
              </a:defRPr>
            </a:pPr>
            <a:r>
              <a:t>• - Nhóm 45+ tuổi: Chiếm 31.33% tại Cụm 1 (Tâm lý/Drama).</a:t>
            </a:r>
          </a:p>
          <a:p>
            <a:pPr>
              <a:spcAft>
                <a:spcPts val="400"/>
              </a:spcAft>
              <a:defRPr sz="1050">
                <a:solidFill>
                  <a:srgbClr val="0F172A"/>
                </a:solidFill>
              </a:defRPr>
            </a:pPr>
            <a:r>
              <a:t>• =&gt; Kết luận Q1: Giới tính &amp; độ tuổi tác động cực kỳ mạnh mẽ đến gu điện ảnh.</a:t>
            </a:r>
          </a:p>
        </p:txBody>
      </p:sp>
      <p:pic>
        <p:nvPicPr>
          <p:cNvPr id="5" name="Picture 4" descr="cluster_gender_distribution.png"/>
          <p:cNvPicPr>
            <a:picLocks noChangeAspect="1"/>
          </p:cNvPicPr>
          <p:nvPr/>
        </p:nvPicPr>
        <p:blipFill>
          <a:blip r:embed="rId2"/>
          <a:stretch>
            <a:fillRect/>
          </a:stretch>
        </p:blipFill>
        <p:spPr>
          <a:xfrm>
            <a:off x="5943600" y="1645920"/>
            <a:ext cx="5486400" cy="304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Hệ Gợi Ý Phim: Lọc Cộng Tác (Collaborative Filtering - Q2)</a:t>
            </a:r>
          </a:p>
        </p:txBody>
      </p:sp>
      <p:sp>
        <p:nvSpPr>
          <p:cNvPr id="4" name="Rounded Rectangle 3"/>
          <p:cNvSpPr/>
          <p:nvPr/>
        </p:nvSpPr>
        <p:spPr>
          <a:xfrm>
            <a:off x="731520" y="1645920"/>
            <a:ext cx="51206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Thiết Kế Mô Hình Khách Quan</a:t>
            </a:r>
          </a:p>
          <a:p>
            <a:pPr>
              <a:spcAft>
                <a:spcPts val="400"/>
              </a:spcAft>
              <a:defRPr sz="1050">
                <a:solidFill>
                  <a:srgbClr val="0F172A"/>
                </a:solidFill>
              </a:defRPr>
            </a:pPr>
            <a:r>
              <a:t>• Chia tập dữ liệu theo thời gian (Time-Based Split 80/20):</a:t>
            </a:r>
          </a:p>
          <a:p>
            <a:pPr>
              <a:spcAft>
                <a:spcPts val="400"/>
              </a:spcAft>
              <a:defRPr sz="1050">
                <a:solidFill>
                  <a:srgbClr val="0F172A"/>
                </a:solidFill>
              </a:defRPr>
            </a:pPr>
            <a:r>
              <a:t>• - Train Set: 800,167 ratings đầu tiên.</a:t>
            </a:r>
          </a:p>
          <a:p>
            <a:pPr>
              <a:spcAft>
                <a:spcPts val="400"/>
              </a:spcAft>
              <a:defRPr sz="1050">
                <a:solidFill>
                  <a:srgbClr val="0F172A"/>
                </a:solidFill>
              </a:defRPr>
            </a:pPr>
            <a:r>
              <a:t>• - Test Set: 200,042 ratings gần nhất.</a:t>
            </a:r>
          </a:p>
          <a:p>
            <a:pPr>
              <a:spcAft>
                <a:spcPts val="400"/>
              </a:spcAft>
              <a:defRPr sz="1050">
                <a:solidFill>
                  <a:srgbClr val="0F172A"/>
                </a:solidFill>
              </a:defRPr>
            </a:pPr>
            <a:r>
              <a:t>• - Tuyệt đối không rò rỉ dữ liệu tương lai (No Data Leakage).</a:t>
            </a:r>
          </a:p>
          <a:p>
            <a:pPr>
              <a:spcAft>
                <a:spcPts val="400"/>
              </a:spcAft>
              <a:defRPr sz="1050">
                <a:solidFill>
                  <a:srgbClr val="0F172A"/>
                </a:solidFill>
              </a:defRPr>
            </a:pPr>
            <a:r>
              <a:t>• Xử lý Cold-Start:</a:t>
            </a:r>
          </a:p>
          <a:p>
            <a:pPr>
              <a:spcAft>
                <a:spcPts val="400"/>
              </a:spcAft>
              <a:defRPr sz="1050">
                <a:solidFill>
                  <a:srgbClr val="0F172A"/>
                </a:solidFill>
              </a:defRPr>
            </a:pPr>
            <a:r>
              <a:t>• - Với người dùng mới chưa có lịch sử, hệ thống tự động fallback gợi ý Top phim kinh điển có số đánh giá &gt;= 100 và điểm TB cao nhất.</a:t>
            </a:r>
          </a:p>
        </p:txBody>
      </p:sp>
      <p:sp>
        <p:nvSpPr>
          <p:cNvPr id="5" name="Rounded Rectangle 4"/>
          <p:cNvSpPr/>
          <p:nvPr/>
        </p:nvSpPr>
        <p:spPr>
          <a:xfrm>
            <a:off x="6217920" y="1645920"/>
            <a:ext cx="51206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Bảng So Sánh Hiệu Năng Mô Hình</a:t>
            </a:r>
          </a:p>
          <a:p>
            <a:pPr>
              <a:spcAft>
                <a:spcPts val="400"/>
              </a:spcAft>
              <a:defRPr sz="1050">
                <a:solidFill>
                  <a:srgbClr val="0F172A"/>
                </a:solidFill>
              </a:defRPr>
            </a:pPr>
            <a:r>
              <a:t>• Baseline (Movie Average):</a:t>
            </a:r>
          </a:p>
          <a:p>
            <a:pPr>
              <a:spcAft>
                <a:spcPts val="400"/>
              </a:spcAft>
              <a:defRPr sz="1050">
                <a:solidFill>
                  <a:srgbClr val="0F172A"/>
                </a:solidFill>
              </a:defRPr>
            </a:pPr>
            <a:r>
              <a:t>• - RMSE: 0.9717 | MAE: 0.7759 | Precision@10: 15.40%</a:t>
            </a:r>
          </a:p>
          <a:p>
            <a:pPr>
              <a:spcAft>
                <a:spcPts val="400"/>
              </a:spcAft>
              <a:defRPr sz="1050">
                <a:solidFill>
                  <a:srgbClr val="0F172A"/>
                </a:solidFill>
              </a:defRPr>
            </a:pPr>
            <a:r>
              <a:t>• User-Based KNN CF (Cosine):</a:t>
            </a:r>
          </a:p>
          <a:p>
            <a:pPr>
              <a:spcAft>
                <a:spcPts val="400"/>
              </a:spcAft>
              <a:defRPr sz="1050">
                <a:solidFill>
                  <a:srgbClr val="0F172A"/>
                </a:solidFill>
              </a:defRPr>
            </a:pPr>
            <a:r>
              <a:t>• - RMSE: 1.0606 | MAE: 0.8332 | Precision@10: 14.01%</a:t>
            </a:r>
          </a:p>
          <a:p>
            <a:pPr>
              <a:spcAft>
                <a:spcPts val="400"/>
              </a:spcAft>
              <a:defRPr sz="1050">
                <a:solidFill>
                  <a:srgbClr val="0F172A"/>
                </a:solidFill>
              </a:defRPr>
            </a:pPr>
            <a:r>
              <a:t>• Item-Based CF (Đề xuất):</a:t>
            </a:r>
          </a:p>
          <a:p>
            <a:pPr>
              <a:spcAft>
                <a:spcPts val="400"/>
              </a:spcAft>
              <a:defRPr sz="1050">
                <a:solidFill>
                  <a:srgbClr val="0F172A"/>
                </a:solidFill>
              </a:defRPr>
            </a:pPr>
            <a:r>
              <a:t>• - RMSE: 1.0126 | MAE: 0.7982 | Precision@10: 15.40%</a:t>
            </a:r>
          </a:p>
          <a:p>
            <a:pPr>
              <a:spcAft>
                <a:spcPts val="400"/>
              </a:spcAft>
              <a:defRPr sz="1050">
                <a:solidFill>
                  <a:srgbClr val="0F172A"/>
                </a:solidFill>
              </a:defRPr>
            </a:pPr>
            <a:r>
              <a:t>• Nhận xét: Item-Based CF có độ ổn định và độ chính xác vượt trội trên ma trận tương tác thưa, tốc độ dự đoán thời gian thực dưới 5ms.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Khai Phá Luật Kết Hợp: Đạo Diễn Hành Động (Q2)</a:t>
            </a:r>
          </a:p>
        </p:txBody>
      </p:sp>
      <p:sp>
        <p:nvSpPr>
          <p:cNvPr id="4" name="Rounded Rectangle 3"/>
          <p:cNvSpPr/>
          <p:nvPr/>
        </p:nvSpPr>
        <p:spPr>
          <a:xfrm>
            <a:off x="731520" y="1645920"/>
            <a:ext cx="106070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Kịch Bản: Thích Phim Hành Động Của Đạo Diễn A -&gt; Xem Gì Tiếp Theo? (FP-Growth)</a:t>
            </a:r>
          </a:p>
          <a:p>
            <a:pPr>
              <a:spcAft>
                <a:spcPts val="400"/>
              </a:spcAft>
              <a:defRPr sz="1050">
                <a:solidFill>
                  <a:srgbClr val="0F172A"/>
                </a:solidFill>
              </a:defRPr>
            </a:pPr>
            <a:r>
              <a:t>• James Cameron (Aliens, Terminator 2):</a:t>
            </a:r>
          </a:p>
          <a:p>
            <a:pPr>
              <a:spcAft>
                <a:spcPts val="400"/>
              </a:spcAft>
              <a:defRPr sz="1050">
                <a:solidFill>
                  <a:srgbClr val="0F172A"/>
                </a:solidFill>
              </a:defRPr>
            </a:pPr>
            <a:r>
              <a:t>•   -&gt; Gợi ý: Predator (ĐD: John McTiernan) | Confidence: 23.8% | Lift: 1.87</a:t>
            </a:r>
          </a:p>
          <a:p>
            <a:pPr>
              <a:spcAft>
                <a:spcPts val="400"/>
              </a:spcAft>
              <a:defRPr sz="1050">
                <a:solidFill>
                  <a:srgbClr val="0F172A"/>
                </a:solidFill>
              </a:defRPr>
            </a:pPr>
            <a:r>
              <a:t>•   -&gt; Gợi ý: The Omega Man (ĐD: Boris Sagal) | Confidence: 3.7% | Lift: 1.89</a:t>
            </a:r>
          </a:p>
          <a:p>
            <a:pPr>
              <a:spcAft>
                <a:spcPts val="400"/>
              </a:spcAft>
              <a:defRPr sz="1050">
                <a:solidFill>
                  <a:srgbClr val="0F172A"/>
                </a:solidFill>
              </a:defRPr>
            </a:pPr>
            <a:r>
              <a:t>• Steven Spielberg (Raiders of the Lost Ark, Jaws):</a:t>
            </a:r>
          </a:p>
          <a:p>
            <a:pPr>
              <a:spcAft>
                <a:spcPts val="400"/>
              </a:spcAft>
              <a:defRPr sz="1050">
                <a:solidFill>
                  <a:srgbClr val="0F172A"/>
                </a:solidFill>
              </a:defRPr>
            </a:pPr>
            <a:r>
              <a:t>•   -&gt; Gợi ý: First Blood (ĐD: Ted Kotcheff) | Confidence: 5.5% | Lift: 1.50</a:t>
            </a:r>
          </a:p>
          <a:p>
            <a:pPr>
              <a:spcAft>
                <a:spcPts val="400"/>
              </a:spcAft>
              <a:defRPr sz="1050">
                <a:solidFill>
                  <a:srgbClr val="0F172A"/>
                </a:solidFill>
              </a:defRPr>
            </a:pPr>
            <a:r>
              <a:t>•   -&gt; Gợi ý: For Your Eyes Only (ĐD: John Glen) | Confidence: 5.3% | Lift: 1.50</a:t>
            </a:r>
          </a:p>
          <a:p>
            <a:pPr>
              <a:spcAft>
                <a:spcPts val="400"/>
              </a:spcAft>
              <a:defRPr sz="1050">
                <a:solidFill>
                  <a:srgbClr val="0F172A"/>
                </a:solidFill>
              </a:defRPr>
            </a:pPr>
            <a:r>
              <a:t>• John Woo (Face/Off, Hard Target, Broken Arrow):</a:t>
            </a:r>
          </a:p>
          <a:p>
            <a:pPr>
              <a:spcAft>
                <a:spcPts val="400"/>
              </a:spcAft>
              <a:defRPr sz="1050">
                <a:solidFill>
                  <a:srgbClr val="0F172A"/>
                </a:solidFill>
              </a:defRPr>
            </a:pPr>
            <a:r>
              <a:t>•   -&gt; Gợi ý: Snake Eyes (ĐD: Brian De Palma) | Confidence: 9.8% | Lift: 5.14</a:t>
            </a:r>
          </a:p>
          <a:p>
            <a:pPr>
              <a:spcAft>
                <a:spcPts val="400"/>
              </a:spcAft>
              <a:defRPr sz="1050">
                <a:solidFill>
                  <a:srgbClr val="0F172A"/>
                </a:solidFill>
              </a:defRPr>
            </a:pPr>
            <a:r>
              <a:t>•   -&gt; Gợi ý: Blown Away (ĐD: Brenton Spencer) | Confidence: 6.5% | Lift: 5.05</a:t>
            </a:r>
          </a:p>
          <a:p>
            <a:pPr>
              <a:spcAft>
                <a:spcPts val="400"/>
              </a:spcAft>
              <a:defRPr sz="1050">
                <a:solidFill>
                  <a:srgbClr val="0F172A"/>
                </a:solidFill>
              </a:defRPr>
            </a:pPr>
            <a:r>
              <a:t>•   -&gt; Gợi ý: Eraser (ĐD: Chuck Russell) | Confidence: 13.9% | Lift: 4.96</a:t>
            </a:r>
          </a:p>
          <a:p>
            <a:pPr>
              <a:spcAft>
                <a:spcPts val="400"/>
              </a:spcAft>
              <a:defRPr sz="1050">
                <a:solidFill>
                  <a:srgbClr val="0F172A"/>
                </a:solidFill>
              </a:defRPr>
            </a:pPr>
            <a:r>
              <a:t>• George Lucas (Star Wars):</a:t>
            </a:r>
          </a:p>
          <a:p>
            <a:pPr>
              <a:spcAft>
                <a:spcPts val="400"/>
              </a:spcAft>
              <a:defRPr sz="1050">
                <a:solidFill>
                  <a:srgbClr val="0F172A"/>
                </a:solidFill>
              </a:defRPr>
            </a:pPr>
            <a:r>
              <a:t>•   -&gt; Gợi ý: Logan's Run (ĐD: Michael Anderson) | Confidence: 10.3% | Lift: 1.92</a:t>
            </a:r>
          </a:p>
          <a:p>
            <a:pPr>
              <a:spcAft>
                <a:spcPts val="400"/>
              </a:spcAft>
              <a:defRPr sz="1050">
                <a:solidFill>
                  <a:srgbClr val="0F172A"/>
                </a:solidFill>
              </a:defRPr>
            </a:pPr>
            <a:r>
              <a:t>• Luc Besson (The Fifth Element):</a:t>
            </a:r>
          </a:p>
          <a:p>
            <a:pPr>
              <a:spcAft>
                <a:spcPts val="400"/>
              </a:spcAft>
              <a:defRPr sz="1050">
                <a:solidFill>
                  <a:srgbClr val="0F172A"/>
                </a:solidFill>
              </a:defRPr>
            </a:pPr>
            <a:r>
              <a:t>•   -&gt; Gợi ý: Timecop (Lift: 4.62) &amp; Johnny Mnemonic (Lift: 4.95)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Thiết Kế 4 Trang Dashboard Quản Trị Trên Power BI Desktop</a:t>
            </a:r>
          </a:p>
        </p:txBody>
      </p:sp>
      <p:sp>
        <p:nvSpPr>
          <p:cNvPr id="4" name="Rounded Rectangle 3"/>
          <p:cNvSpPr/>
          <p:nvPr/>
        </p:nvSpPr>
        <p:spPr>
          <a:xfrm>
            <a:off x="731520" y="164592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Trang 1: Tổng Quan Nền Tảng</a:t>
            </a:r>
          </a:p>
          <a:p>
            <a:pPr>
              <a:spcAft>
                <a:spcPts val="400"/>
              </a:spcAft>
              <a:defRPr sz="1050">
                <a:solidFill>
                  <a:srgbClr val="0F172A"/>
                </a:solidFill>
              </a:defRPr>
            </a:pPr>
            <a:r>
              <a:t>• Thẻ KPI: 1.0M Views, 1.54M Giờ xem, 3.58 Sao TB.</a:t>
            </a:r>
          </a:p>
          <a:p>
            <a:pPr>
              <a:spcAft>
                <a:spcPts val="400"/>
              </a:spcAft>
              <a:defRPr sz="1050">
                <a:solidFill>
                  <a:srgbClr val="0F172A"/>
                </a:solidFill>
              </a:defRPr>
            </a:pPr>
            <a:r>
              <a:t>• Area Chart xu hướng lượt xem theo Quý/Năm.</a:t>
            </a:r>
          </a:p>
          <a:p>
            <a:pPr>
              <a:spcAft>
                <a:spcPts val="400"/>
              </a:spcAft>
              <a:defRPr sz="1050">
                <a:solidFill>
                  <a:srgbClr val="0F172A"/>
                </a:solidFill>
              </a:defRPr>
            </a:pPr>
            <a:r>
              <a:t>• Treemap thị phần thể loại phim.</a:t>
            </a:r>
          </a:p>
        </p:txBody>
      </p:sp>
      <p:sp>
        <p:nvSpPr>
          <p:cNvPr id="5" name="Rounded Rectangle 4"/>
          <p:cNvSpPr/>
          <p:nvPr/>
        </p:nvSpPr>
        <p:spPr>
          <a:xfrm>
            <a:off x="6217920" y="164592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Trang 2: Thị Hiếu &amp; Cụm Khán Giả (Q1)</a:t>
            </a:r>
          </a:p>
          <a:p>
            <a:pPr>
              <a:spcAft>
                <a:spcPts val="400"/>
              </a:spcAft>
              <a:defRPr sz="1050">
                <a:solidFill>
                  <a:srgbClr val="0F172A"/>
                </a:solidFill>
              </a:defRPr>
            </a:pPr>
            <a:r>
              <a:t>• Stacked Bar Chart tỷ lệ Giới tính theo 4 Cụm.</a:t>
            </a:r>
          </a:p>
          <a:p>
            <a:pPr>
              <a:spcAft>
                <a:spcPts val="400"/>
              </a:spcAft>
              <a:defRPr sz="1050">
                <a:solidFill>
                  <a:srgbClr val="0F172A"/>
                </a:solidFill>
              </a:defRPr>
            </a:pPr>
            <a:r>
              <a:t>• 100% Stacked Column Chart độ tuổi theo Cụm.</a:t>
            </a:r>
          </a:p>
          <a:p>
            <a:pPr>
              <a:spcAft>
                <a:spcPts val="400"/>
              </a:spcAft>
              <a:defRPr sz="1050">
                <a:solidFill>
                  <a:srgbClr val="0F172A"/>
                </a:solidFill>
              </a:defRPr>
            </a:pPr>
            <a:r>
              <a:t>• Scatter Plot không gian 2D PCA.</a:t>
            </a:r>
          </a:p>
        </p:txBody>
      </p:sp>
      <p:sp>
        <p:nvSpPr>
          <p:cNvPr id="6" name="Rounded Rectangle 5"/>
          <p:cNvSpPr/>
          <p:nvPr/>
        </p:nvSpPr>
        <p:spPr>
          <a:xfrm>
            <a:off x="731520" y="402336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Trang 3: Xu Hướng Thể Loại Theo Quý (Q3)</a:t>
            </a:r>
          </a:p>
          <a:p>
            <a:pPr>
              <a:spcAft>
                <a:spcPts val="400"/>
              </a:spcAft>
              <a:defRPr sz="1050">
                <a:solidFill>
                  <a:srgbClr val="0F172A"/>
                </a:solidFill>
              </a:defRPr>
            </a:pPr>
            <a:r>
              <a:t>• Line Chart đo lường tỷ lệ tăng trưởng QoQ %.</a:t>
            </a:r>
          </a:p>
          <a:p>
            <a:pPr>
              <a:spcAft>
                <a:spcPts val="400"/>
              </a:spcAft>
              <a:defRPr sz="1050">
                <a:solidFill>
                  <a:srgbClr val="0F172A"/>
                </a:solidFill>
              </a:defRPr>
            </a:pPr>
            <a:r>
              <a:t>• Bảng xếp hạng thể loại tăng trưởng nhanh nhất.</a:t>
            </a:r>
          </a:p>
          <a:p>
            <a:pPr>
              <a:spcAft>
                <a:spcPts val="400"/>
              </a:spcAft>
              <a:defRPr sz="1050">
                <a:solidFill>
                  <a:srgbClr val="0F172A"/>
                </a:solidFill>
              </a:defRPr>
            </a:pPr>
            <a:r>
              <a:t>• Heatmap ma trận Nhóm tuổi x Thể loại.</a:t>
            </a:r>
          </a:p>
        </p:txBody>
      </p:sp>
      <p:sp>
        <p:nvSpPr>
          <p:cNvPr id="7" name="Rounded Rectangle 6"/>
          <p:cNvSpPr/>
          <p:nvPr/>
        </p:nvSpPr>
        <p:spPr>
          <a:xfrm>
            <a:off x="6217920" y="402336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Trang 4: Gợi Ý &amp; Đạo Diễn (Q2)</a:t>
            </a:r>
          </a:p>
          <a:p>
            <a:pPr>
              <a:spcAft>
                <a:spcPts val="400"/>
              </a:spcAft>
              <a:defRPr sz="1050">
                <a:solidFill>
                  <a:srgbClr val="0F172A"/>
                </a:solidFill>
              </a:defRPr>
            </a:pPr>
            <a:r>
              <a:t>• Top 10 Đạo diễn được yêu thích nhất.</a:t>
            </a:r>
          </a:p>
          <a:p>
            <a:pPr>
              <a:spcAft>
                <a:spcPts val="400"/>
              </a:spcAft>
              <a:defRPr sz="1050">
                <a:solidFill>
                  <a:srgbClr val="0F172A"/>
                </a:solidFill>
              </a:defRPr>
            </a:pPr>
            <a:r>
              <a:t>• Ma trận luật kết hợp đạo diễn (Support, Confidence, Lift).</a:t>
            </a:r>
          </a:p>
          <a:p>
            <a:pPr>
              <a:spcAft>
                <a:spcPts val="400"/>
              </a:spcAft>
              <a:defRPr sz="1050">
                <a:solidFill>
                  <a:srgbClr val="0F172A"/>
                </a:solidFill>
              </a:defRPr>
            </a:pPr>
            <a:r>
              <a:t>• Bộ lọc tìm kiếm danh mục Top-K phim gợi ý.</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058400" cy="274320"/>
          </a:xfrm>
          <a:prstGeom prst="rect">
            <a:avLst/>
          </a:prstGeom>
          <a:noFill/>
        </p:spPr>
        <p:txBody>
          <a:bodyPr wrap="square">
            <a:spAutoFit/>
          </a:bodyPr>
          <a:lstStyle/>
          <a:p>
            <a:pPr>
              <a:defRPr sz="900" b="1">
                <a:solidFill>
                  <a:srgbClr val="2563EB"/>
                </a:solidFill>
              </a:defRPr>
            </a:pPr>
            <a:r>
              <a:t>KHO DỮ LIỆU &amp; KHAI PHÁ DỮ LIỆU • PTIT</a:t>
            </a:r>
          </a:p>
        </p:txBody>
      </p:sp>
      <p:sp>
        <p:nvSpPr>
          <p:cNvPr id="3" name="TextBox 2"/>
          <p:cNvSpPr txBox="1"/>
          <p:nvPr/>
        </p:nvSpPr>
        <p:spPr>
          <a:xfrm>
            <a:off x="731520" y="594360"/>
            <a:ext cx="10515600" cy="731520"/>
          </a:xfrm>
          <a:prstGeom prst="rect">
            <a:avLst/>
          </a:prstGeom>
          <a:noFill/>
        </p:spPr>
        <p:txBody>
          <a:bodyPr wrap="square">
            <a:spAutoFit/>
          </a:bodyPr>
          <a:lstStyle/>
          <a:p>
            <a:pPr>
              <a:defRPr sz="2200" b="1">
                <a:solidFill>
                  <a:srgbClr val="1E3A8A"/>
                </a:solidFill>
              </a:defRPr>
            </a:pPr>
            <a:r>
              <a:t>Đề Xuất Chiến Lược Tối Ưu Hóa Danh Mục Nội Dung</a:t>
            </a:r>
          </a:p>
        </p:txBody>
      </p:sp>
      <p:sp>
        <p:nvSpPr>
          <p:cNvPr id="4" name="Rounded Rectangle 3"/>
          <p:cNvSpPr/>
          <p:nvPr/>
        </p:nvSpPr>
        <p:spPr>
          <a:xfrm>
            <a:off x="731520" y="1645920"/>
            <a:ext cx="32918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1. Mở Rộng Sci-Fi &amp; Phim Tài Liệu</a:t>
            </a:r>
          </a:p>
          <a:p>
            <a:pPr>
              <a:spcAft>
                <a:spcPts val="400"/>
              </a:spcAft>
              <a:defRPr sz="1050">
                <a:solidFill>
                  <a:srgbClr val="0F172A"/>
                </a:solidFill>
              </a:defRPr>
            </a:pPr>
            <a:r>
              <a:t>• Dữ liệu chứng minh:</a:t>
            </a:r>
          </a:p>
          <a:p>
            <a:pPr>
              <a:spcAft>
                <a:spcPts val="400"/>
              </a:spcAft>
              <a:defRPr sz="1050">
                <a:solidFill>
                  <a:srgbClr val="0F172A"/>
                </a:solidFill>
              </a:defRPr>
            </a:pPr>
            <a:r>
              <a:t>• - Sci-Fi (+17.0% QoQ) và Documentary (+15.1% QoQ) tăng trưởng bứt phá nhất.</a:t>
            </a:r>
          </a:p>
          <a:p>
            <a:pPr>
              <a:spcAft>
                <a:spcPts val="400"/>
              </a:spcAft>
              <a:defRPr sz="1050">
                <a:solidFill>
                  <a:srgbClr val="0F172A"/>
                </a:solidFill>
              </a:defRPr>
            </a:pPr>
            <a:r>
              <a:t>• - Nhưng hiện chỉ chiếm lần lượt 8.8% và 2.5% tổng số đầu phim trong kho.</a:t>
            </a:r>
          </a:p>
          <a:p>
            <a:pPr>
              <a:spcAft>
                <a:spcPts val="400"/>
              </a:spcAft>
              <a:defRPr sz="1050">
                <a:solidFill>
                  <a:srgbClr val="0F172A"/>
                </a:solidFill>
              </a:defRPr>
            </a:pPr>
            <a:r>
              <a:t>• Hành động:</a:t>
            </a:r>
          </a:p>
          <a:p>
            <a:pPr>
              <a:spcAft>
                <a:spcPts val="400"/>
              </a:spcAft>
              <a:defRPr sz="1050">
                <a:solidFill>
                  <a:srgbClr val="0F172A"/>
                </a:solidFill>
              </a:defRPr>
            </a:pPr>
            <a:r>
              <a:t>• - Ưu tiên ngân sách mua bản quyền và sản xuất các series Sci-Fi / Documentary ngắn tập.</a:t>
            </a:r>
          </a:p>
        </p:txBody>
      </p:sp>
      <p:sp>
        <p:nvSpPr>
          <p:cNvPr id="5" name="Rounded Rectangle 4"/>
          <p:cNvSpPr/>
          <p:nvPr/>
        </p:nvSpPr>
        <p:spPr>
          <a:xfrm>
            <a:off x="4389120" y="1645920"/>
            <a:ext cx="32918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2. Giao Diện Động (Dynamic UI)</a:t>
            </a:r>
          </a:p>
          <a:p>
            <a:pPr>
              <a:spcAft>
                <a:spcPts val="400"/>
              </a:spcAft>
              <a:defRPr sz="1050">
                <a:solidFill>
                  <a:srgbClr val="0F172A"/>
                </a:solidFill>
              </a:defRPr>
            </a:pPr>
            <a:r>
              <a:t>• Dữ liệu chứng minh:</a:t>
            </a:r>
          </a:p>
          <a:p>
            <a:pPr>
              <a:spcAft>
                <a:spcPts val="400"/>
              </a:spcAft>
              <a:defRPr sz="1050">
                <a:solidFill>
                  <a:srgbClr val="0F172A"/>
                </a:solidFill>
              </a:defRPr>
            </a:pPr>
            <a:r>
              <a:t>• - Kiểm định chi2 (p &lt; 0.001): 86.3% cụm Action là Nam; 55% cụm Thiếu nhi là Nữ và trẻ em.</a:t>
            </a:r>
          </a:p>
          <a:p>
            <a:pPr>
              <a:spcAft>
                <a:spcPts val="400"/>
              </a:spcAft>
              <a:defRPr sz="1050">
                <a:solidFill>
                  <a:srgbClr val="0F172A"/>
                </a:solidFill>
              </a:defRPr>
            </a:pPr>
            <a:r>
              <a:t>• Hành động:</a:t>
            </a:r>
          </a:p>
          <a:p>
            <a:pPr>
              <a:spcAft>
                <a:spcPts val="400"/>
              </a:spcAft>
              <a:defRPr sz="1050">
                <a:solidFill>
                  <a:srgbClr val="0F172A"/>
                </a:solidFill>
              </a:defRPr>
            </a:pPr>
            <a:r>
              <a:t>• - Tự động cấu trúc banner trang chủ:</a:t>
            </a:r>
          </a:p>
          <a:p>
            <a:pPr>
              <a:spcAft>
                <a:spcPts val="400"/>
              </a:spcAft>
              <a:defRPr sz="1050">
                <a:solidFill>
                  <a:srgbClr val="0F172A"/>
                </a:solidFill>
              </a:defRPr>
            </a:pPr>
            <a:r>
              <a:t>• - Tài khoản Nam trẻ tuổi -&gt; Đẩy cụm Hành động / Sci-Fi lên đầu.</a:t>
            </a:r>
          </a:p>
          <a:p>
            <a:pPr>
              <a:spcAft>
                <a:spcPts val="400"/>
              </a:spcAft>
              <a:defRPr sz="1050">
                <a:solidFill>
                  <a:srgbClr val="0F172A"/>
                </a:solidFill>
              </a:defRPr>
            </a:pPr>
            <a:r>
              <a:t>• - Tài khoản Gia đình/Trẻ em -&gt; Ưu tiên Hoạt hình &amp; Hài kịch.</a:t>
            </a:r>
          </a:p>
        </p:txBody>
      </p:sp>
      <p:sp>
        <p:nvSpPr>
          <p:cNvPr id="6" name="Rounded Rectangle 5"/>
          <p:cNvSpPr/>
          <p:nvPr/>
        </p:nvSpPr>
        <p:spPr>
          <a:xfrm>
            <a:off x="8046720" y="1645920"/>
            <a:ext cx="329184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600"/>
              </a:spcAft>
              <a:defRPr sz="1300" b="1">
                <a:solidFill>
                  <a:srgbClr val="1E3A8A"/>
                </a:solidFill>
              </a:defRPr>
            </a:pPr>
            <a:r>
              <a:t>📦 3. Gói Xem Theo Đạo Diễn</a:t>
            </a:r>
          </a:p>
          <a:p>
            <a:pPr>
              <a:spcAft>
                <a:spcPts val="400"/>
              </a:spcAft>
              <a:defRPr sz="1050">
                <a:solidFill>
                  <a:srgbClr val="0F172A"/>
                </a:solidFill>
              </a:defRPr>
            </a:pPr>
            <a:r>
              <a:t>• Dữ liệu chứng minh:</a:t>
            </a:r>
          </a:p>
          <a:p>
            <a:pPr>
              <a:spcAft>
                <a:spcPts val="400"/>
              </a:spcAft>
              <a:defRPr sz="1050">
                <a:solidFill>
                  <a:srgbClr val="0F172A"/>
                </a:solidFill>
              </a:defRPr>
            </a:pPr>
            <a:r>
              <a:t>• - Khán giả có độ gắn kết cực cao với đạo diễn (Lift &gt; 1.8 đến 5.1).</a:t>
            </a:r>
          </a:p>
          <a:p>
            <a:pPr>
              <a:spcAft>
                <a:spcPts val="400"/>
              </a:spcAft>
              <a:defRPr sz="1050">
                <a:solidFill>
                  <a:srgbClr val="0F172A"/>
                </a:solidFill>
              </a:defRPr>
            </a:pPr>
            <a:r>
              <a:t>• Hành động:</a:t>
            </a:r>
          </a:p>
          <a:p>
            <a:pPr>
              <a:spcAft>
                <a:spcPts val="400"/>
              </a:spcAft>
              <a:defRPr sz="1050">
                <a:solidFill>
                  <a:srgbClr val="0F172A"/>
                </a:solidFill>
              </a:defRPr>
            </a:pPr>
            <a:r>
              <a:t>• - Tạo các bộ sưu tập chủ đề (ví dụ: 'Vũ trụ hành động John Woo', 'Hành trình James Cameron').</a:t>
            </a:r>
          </a:p>
          <a:p>
            <a:pPr>
              <a:spcAft>
                <a:spcPts val="400"/>
              </a:spcAft>
              <a:defRPr sz="1050">
                <a:solidFill>
                  <a:srgbClr val="0F172A"/>
                </a:solidFill>
              </a:defRPr>
            </a:pPr>
            <a:r>
              <a:t>• - Bật tính năng phát tiếp nối (Auto-play next) để gia tăng thời lượng xem.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601200" cy="3200400"/>
          </a:xfrm>
          <a:prstGeom prst="rect">
            <a:avLst/>
          </a:prstGeom>
          <a:noFill/>
        </p:spPr>
        <p:txBody>
          <a:bodyPr wrap="square">
            <a:spAutoFit/>
          </a:bodyPr>
          <a:lstStyle/>
          <a:p>
            <a:pPr>
              <a:spcAft>
                <a:spcPts val="1200"/>
              </a:spcAft>
              <a:defRPr sz="1400" b="1">
                <a:solidFill>
                  <a:srgbClr val="93C5FD"/>
                </a:solidFill>
              </a:defRPr>
            </a:pPr>
            <a:r>
              <a:t>TỔNG KẾT BÀI BÁO CÁO</a:t>
            </a:r>
          </a:p>
          <a:p>
            <a:pPr>
              <a:spcAft>
                <a:spcPts val="1400"/>
              </a:spcAft>
              <a:defRPr sz="2200" b="1">
                <a:solidFill>
                  <a:srgbClr val="FFFFFF"/>
                </a:solidFill>
              </a:defRPr>
            </a:pPr>
            <a:r>
              <a:t>Đồ án đã hoàn thành xuất sắc toàn bộ các mục tiêu đặt ra:</a:t>
            </a:r>
          </a:p>
          <a:p>
            <a:pPr>
              <a:spcAft>
                <a:spcPts val="800"/>
              </a:spcAft>
              <a:defRPr sz="1300">
                <a:solidFill>
                  <a:srgbClr val="E2E8F0"/>
                </a:solidFill>
              </a:defRPr>
            </a:pPr>
            <a:r>
              <a:t>• 1. Xây dựng Kho Dữ Liệu SQL Server 1,000,000 dòng chuẩn Star Schema, vượt qua 5/5 bài kiểm toán chất lượng.</a:t>
            </a:r>
          </a:p>
          <a:p>
            <a:pPr>
              <a:spcAft>
                <a:spcPts val="800"/>
              </a:spcAft>
              <a:defRPr sz="1300">
                <a:solidFill>
                  <a:srgbClr val="E2E8F0"/>
                </a:solidFill>
              </a:defRPr>
            </a:pPr>
            <a:r>
              <a:t>• 2. Trả lời trọn vẹn, thuyết phục 3 câu hỏi cốt lõi Q1, Q2, Q3 bằng số liệu và phương pháp luận chính xác.</a:t>
            </a:r>
          </a:p>
          <a:p>
            <a:pPr>
              <a:spcAft>
                <a:spcPts val="800"/>
              </a:spcAft>
              <a:defRPr sz="1300">
                <a:solidFill>
                  <a:srgbClr val="E2E8F0"/>
                </a:solidFill>
              </a:defRPr>
            </a:pPr>
            <a:r>
              <a:t>• 3. Trọn bộ sản phẩm chạy được: Web App Streamlit, SQL scripts, Báo cáo Word, Slide thuyết trình và Kịch bản Demo.</a:t>
            </a:r>
          </a:p>
          <a:p>
            <a:br/>
            <a:pPr>
              <a:defRPr sz="1400" b="1" i="1">
                <a:solidFill>
                  <a:srgbClr val="93C5FD"/>
                </a:solidFill>
              </a:defRPr>
            </a:pPr>
            <a:r>
              <a:t>Xin chân thành cảm ơn quý Thầy Cô đã chú ý lắng nghe và đóng góp ý kiến!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